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lice" charset="1" panose="00000500000000000000"/>
      <p:regular r:id="rId15"/>
    </p:embeddedFont>
    <p:embeddedFont>
      <p:font typeface="Lora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837" y="661105"/>
            <a:ext cx="11443463" cy="52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17"/>
              </a:lnSpc>
            </a:pPr>
            <a:r>
              <a:rPr lang="en-US" sz="827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AI-Powered Lung Cancer Detection: A Leap Forward in Early Diagnosis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918892"/>
            <a:ext cx="9445523" cy="13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Revolutionizing healthcare through deep learning and transfer learning for accurate, early-stage lung cancer detection using convolutional neural networks.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896" y="7567809"/>
            <a:ext cx="5980672" cy="85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1"/>
              </a:lnSpc>
              <a:spcBef>
                <a:spcPct val="0"/>
              </a:spcBef>
            </a:pPr>
            <a:r>
              <a:rPr lang="en-US" sz="543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Team: Codevengers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8194" y="8381206"/>
            <a:ext cx="1913096" cy="172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Ansh kumar</a:t>
            </a:r>
          </a:p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Divya</a:t>
            </a:r>
          </a:p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Kunal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75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Hritik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54226"/>
            <a:ext cx="16303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The Critical Challenge: The Silent Threat of Lung Cancer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021779"/>
            <a:ext cx="5245446" cy="4582268"/>
            <a:chOff x="0" y="0"/>
            <a:chExt cx="6993928" cy="6109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3890" cy="6109589"/>
            </a:xfrm>
            <a:custGeom>
              <a:avLst/>
              <a:gdLst/>
              <a:ahLst/>
              <a:cxnLst/>
              <a:rect r="r" b="b" t="t" l="l"/>
              <a:pathLst>
                <a:path h="6109589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6052947"/>
                  </a:lnTo>
                  <a:cubicBezTo>
                    <a:pt x="6993890" y="6084316"/>
                    <a:pt x="6968490" y="6109589"/>
                    <a:pt x="6937248" y="6109589"/>
                  </a:cubicBezTo>
                  <a:lnTo>
                    <a:pt x="56642" y="6109589"/>
                  </a:lnTo>
                  <a:cubicBezTo>
                    <a:pt x="25273" y="6109589"/>
                    <a:pt x="0" y="6084189"/>
                    <a:pt x="0" y="6052947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4305300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453911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541079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Global Health Crisis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5966670"/>
            <a:ext cx="467841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Lung cancer claims over two million new cases annually, ranking as a leading cause of cancer-related deaths worldwide.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4021779"/>
            <a:ext cx="5245446" cy="4582268"/>
            <a:chOff x="0" y="0"/>
            <a:chExt cx="6993928" cy="61096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6109589"/>
            </a:xfrm>
            <a:custGeom>
              <a:avLst/>
              <a:gdLst/>
              <a:ahLst/>
              <a:cxnLst/>
              <a:rect r="r" b="b" t="t" l="l"/>
              <a:pathLst>
                <a:path h="6109589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6052947"/>
                  </a:lnTo>
                  <a:cubicBezTo>
                    <a:pt x="6993890" y="6084316"/>
                    <a:pt x="6968490" y="6109589"/>
                    <a:pt x="6937248" y="6109589"/>
                  </a:cubicBezTo>
                  <a:lnTo>
                    <a:pt x="56642" y="6109589"/>
                  </a:lnTo>
                  <a:cubicBezTo>
                    <a:pt x="25273" y="6109589"/>
                    <a:pt x="0" y="6084189"/>
                    <a:pt x="0" y="6052947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04717" y="4305300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7038680" y="453911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04717" y="541079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Diagnostic Delays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4717" y="5966670"/>
            <a:ext cx="46784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Traditional methods are time-consuming, expensive, and subjective, often leading to delayed or missed diagnoses when time is critical.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50163" y="4021779"/>
            <a:ext cx="5245446" cy="4582268"/>
            <a:chOff x="0" y="0"/>
            <a:chExt cx="6993928" cy="61096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93890" cy="6109589"/>
            </a:xfrm>
            <a:custGeom>
              <a:avLst/>
              <a:gdLst/>
              <a:ahLst/>
              <a:cxnLst/>
              <a:rect r="r" b="b" t="t" l="l"/>
              <a:pathLst>
                <a:path h="6109589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6052947"/>
                  </a:lnTo>
                  <a:cubicBezTo>
                    <a:pt x="6993890" y="6084316"/>
                    <a:pt x="6968490" y="6109589"/>
                    <a:pt x="6937248" y="6109589"/>
                  </a:cubicBezTo>
                  <a:lnTo>
                    <a:pt x="56642" y="6109589"/>
                  </a:lnTo>
                  <a:cubicBezTo>
                    <a:pt x="25273" y="6109589"/>
                    <a:pt x="0" y="6084189"/>
                    <a:pt x="0" y="6052947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33684" y="4305300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567647" y="453911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33684" y="5410791"/>
            <a:ext cx="410498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Early Detection Challenge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3684" y="5966670"/>
            <a:ext cx="467841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Subtle abnormalities in CT scans make manual interpretation difficult, yet early detection remains paramount for improving patient survival rates.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39641" y="1713605"/>
            <a:ext cx="9866709" cy="142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Our Solution: VER-Net - A Hybrid Transfer Learning Approach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5353" y="3387776"/>
            <a:ext cx="9895284" cy="1625498"/>
            <a:chOff x="0" y="0"/>
            <a:chExt cx="13193712" cy="2167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3155676" cy="2129282"/>
            </a:xfrm>
            <a:custGeom>
              <a:avLst/>
              <a:gdLst/>
              <a:ahLst/>
              <a:cxnLst/>
              <a:rect r="r" b="b" t="t" l="l"/>
              <a:pathLst>
                <a:path h="2129282" w="13155676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970002" y="0"/>
                  </a:lnTo>
                  <a:cubicBezTo>
                    <a:pt x="13072490" y="0"/>
                    <a:pt x="13155676" y="81915"/>
                    <a:pt x="13155676" y="182880"/>
                  </a:cubicBezTo>
                  <a:lnTo>
                    <a:pt x="13155676" y="1946402"/>
                  </a:lnTo>
                  <a:cubicBezTo>
                    <a:pt x="13155676" y="2047367"/>
                    <a:pt x="13072618" y="2129282"/>
                    <a:pt x="12970002" y="2129282"/>
                  </a:cubicBezTo>
                  <a:lnTo>
                    <a:pt x="185674" y="2129282"/>
                  </a:lnTo>
                  <a:cubicBezTo>
                    <a:pt x="83185" y="2129282"/>
                    <a:pt x="0" y="2047367"/>
                    <a:pt x="0" y="1946402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93776" cy="2167382"/>
            </a:xfrm>
            <a:custGeom>
              <a:avLst/>
              <a:gdLst/>
              <a:ahLst/>
              <a:cxnLst/>
              <a:rect r="r" b="b" t="t" l="l"/>
              <a:pathLst>
                <a:path h="2167382" w="13193776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989052" y="0"/>
                  </a:lnTo>
                  <a:lnTo>
                    <a:pt x="12989052" y="19050"/>
                  </a:lnTo>
                  <a:lnTo>
                    <a:pt x="12989052" y="0"/>
                  </a:lnTo>
                  <a:cubicBezTo>
                    <a:pt x="13101828" y="0"/>
                    <a:pt x="13193776" y="90170"/>
                    <a:pt x="13193776" y="201930"/>
                  </a:cubicBezTo>
                  <a:lnTo>
                    <a:pt x="13174726" y="201930"/>
                  </a:lnTo>
                  <a:lnTo>
                    <a:pt x="13193776" y="201930"/>
                  </a:lnTo>
                  <a:lnTo>
                    <a:pt x="13193776" y="1965452"/>
                  </a:lnTo>
                  <a:lnTo>
                    <a:pt x="13174726" y="1965452"/>
                  </a:lnTo>
                  <a:lnTo>
                    <a:pt x="13193776" y="1965452"/>
                  </a:lnTo>
                  <a:cubicBezTo>
                    <a:pt x="13193776" y="2077212"/>
                    <a:pt x="13101828" y="2167382"/>
                    <a:pt x="12989052" y="2167382"/>
                  </a:cubicBezTo>
                  <a:lnTo>
                    <a:pt x="12989052" y="2148332"/>
                  </a:lnTo>
                  <a:lnTo>
                    <a:pt x="12989052" y="2167382"/>
                  </a:lnTo>
                  <a:lnTo>
                    <a:pt x="204724" y="2167382"/>
                  </a:lnTo>
                  <a:lnTo>
                    <a:pt x="204724" y="2148332"/>
                  </a:lnTo>
                  <a:lnTo>
                    <a:pt x="204724" y="2167382"/>
                  </a:lnTo>
                  <a:cubicBezTo>
                    <a:pt x="91948" y="2167382"/>
                    <a:pt x="0" y="2077212"/>
                    <a:pt x="0" y="19654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65452"/>
                  </a:lnTo>
                  <a:lnTo>
                    <a:pt x="19050" y="1965452"/>
                  </a:lnTo>
                  <a:lnTo>
                    <a:pt x="38100" y="1965452"/>
                  </a:lnTo>
                  <a:cubicBezTo>
                    <a:pt x="38100" y="2055622"/>
                    <a:pt x="112395" y="2129282"/>
                    <a:pt x="204724" y="2129282"/>
                  </a:cubicBezTo>
                  <a:lnTo>
                    <a:pt x="12989052" y="2129282"/>
                  </a:lnTo>
                  <a:cubicBezTo>
                    <a:pt x="13081254" y="2129282"/>
                    <a:pt x="13155676" y="2055622"/>
                    <a:pt x="13155676" y="1965452"/>
                  </a:cubicBezTo>
                  <a:lnTo>
                    <a:pt x="13155676" y="201930"/>
                  </a:lnTo>
                  <a:cubicBezTo>
                    <a:pt x="13155676" y="111760"/>
                    <a:pt x="13081381" y="38100"/>
                    <a:pt x="12989052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11066" y="3402063"/>
            <a:ext cx="114300" cy="1596923"/>
            <a:chOff x="0" y="0"/>
            <a:chExt cx="152400" cy="2129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2129282"/>
            </a:xfrm>
            <a:custGeom>
              <a:avLst/>
              <a:gdLst/>
              <a:ahLst/>
              <a:cxnLst/>
              <a:rect r="r" b="b" t="t" l="l"/>
              <a:pathLst>
                <a:path h="212928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084578"/>
                  </a:lnTo>
                  <a:cubicBezTo>
                    <a:pt x="152400" y="2109216"/>
                    <a:pt x="132461" y="2129282"/>
                    <a:pt x="107696" y="2129282"/>
                  </a:cubicBezTo>
                  <a:lnTo>
                    <a:pt x="44704" y="2129282"/>
                  </a:lnTo>
                  <a:cubicBezTo>
                    <a:pt x="20066" y="2129282"/>
                    <a:pt x="0" y="2109343"/>
                    <a:pt x="0" y="2084578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977188" y="3644351"/>
            <a:ext cx="3288354" cy="35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Novel Hybrid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77188" y="4070299"/>
            <a:ext cx="9277350" cy="67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VER-Net combines multiple pre-trained transfer learning models stacked together, leveraging existing knowledge to overcome data scarcity and improve generalization.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25353" y="5160616"/>
            <a:ext cx="9895284" cy="1625498"/>
            <a:chOff x="0" y="0"/>
            <a:chExt cx="13193712" cy="21673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13155676" cy="2129282"/>
            </a:xfrm>
            <a:custGeom>
              <a:avLst/>
              <a:gdLst/>
              <a:ahLst/>
              <a:cxnLst/>
              <a:rect r="r" b="b" t="t" l="l"/>
              <a:pathLst>
                <a:path h="2129282" w="13155676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970002" y="0"/>
                  </a:lnTo>
                  <a:cubicBezTo>
                    <a:pt x="13072490" y="0"/>
                    <a:pt x="13155676" y="81915"/>
                    <a:pt x="13155676" y="182880"/>
                  </a:cubicBezTo>
                  <a:lnTo>
                    <a:pt x="13155676" y="1946402"/>
                  </a:lnTo>
                  <a:cubicBezTo>
                    <a:pt x="13155676" y="2047367"/>
                    <a:pt x="13072618" y="2129282"/>
                    <a:pt x="12970002" y="2129282"/>
                  </a:cubicBezTo>
                  <a:lnTo>
                    <a:pt x="185674" y="2129282"/>
                  </a:lnTo>
                  <a:cubicBezTo>
                    <a:pt x="83185" y="2129282"/>
                    <a:pt x="0" y="2047367"/>
                    <a:pt x="0" y="1946402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93776" cy="2167382"/>
            </a:xfrm>
            <a:custGeom>
              <a:avLst/>
              <a:gdLst/>
              <a:ahLst/>
              <a:cxnLst/>
              <a:rect r="r" b="b" t="t" l="l"/>
              <a:pathLst>
                <a:path h="2167382" w="13193776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989052" y="0"/>
                  </a:lnTo>
                  <a:lnTo>
                    <a:pt x="12989052" y="19050"/>
                  </a:lnTo>
                  <a:lnTo>
                    <a:pt x="12989052" y="0"/>
                  </a:lnTo>
                  <a:cubicBezTo>
                    <a:pt x="13101828" y="0"/>
                    <a:pt x="13193776" y="90170"/>
                    <a:pt x="13193776" y="201930"/>
                  </a:cubicBezTo>
                  <a:lnTo>
                    <a:pt x="13174726" y="201930"/>
                  </a:lnTo>
                  <a:lnTo>
                    <a:pt x="13193776" y="201930"/>
                  </a:lnTo>
                  <a:lnTo>
                    <a:pt x="13193776" y="1965452"/>
                  </a:lnTo>
                  <a:lnTo>
                    <a:pt x="13174726" y="1965452"/>
                  </a:lnTo>
                  <a:lnTo>
                    <a:pt x="13193776" y="1965452"/>
                  </a:lnTo>
                  <a:cubicBezTo>
                    <a:pt x="13193776" y="2077212"/>
                    <a:pt x="13101828" y="2167382"/>
                    <a:pt x="12989052" y="2167382"/>
                  </a:cubicBezTo>
                  <a:lnTo>
                    <a:pt x="12989052" y="2148332"/>
                  </a:lnTo>
                  <a:lnTo>
                    <a:pt x="12989052" y="2167382"/>
                  </a:lnTo>
                  <a:lnTo>
                    <a:pt x="204724" y="2167382"/>
                  </a:lnTo>
                  <a:lnTo>
                    <a:pt x="204724" y="2148332"/>
                  </a:lnTo>
                  <a:lnTo>
                    <a:pt x="204724" y="2167382"/>
                  </a:lnTo>
                  <a:cubicBezTo>
                    <a:pt x="91948" y="2167382"/>
                    <a:pt x="0" y="2077212"/>
                    <a:pt x="0" y="19654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65452"/>
                  </a:lnTo>
                  <a:lnTo>
                    <a:pt x="19050" y="1965452"/>
                  </a:lnTo>
                  <a:lnTo>
                    <a:pt x="38100" y="1965452"/>
                  </a:lnTo>
                  <a:cubicBezTo>
                    <a:pt x="38100" y="2055622"/>
                    <a:pt x="112395" y="2129282"/>
                    <a:pt x="204724" y="2129282"/>
                  </a:cubicBezTo>
                  <a:lnTo>
                    <a:pt x="12989052" y="2129282"/>
                  </a:lnTo>
                  <a:cubicBezTo>
                    <a:pt x="13081254" y="2129282"/>
                    <a:pt x="13155676" y="2055622"/>
                    <a:pt x="13155676" y="1965452"/>
                  </a:cubicBezTo>
                  <a:lnTo>
                    <a:pt x="13155676" y="201930"/>
                  </a:lnTo>
                  <a:cubicBezTo>
                    <a:pt x="13155676" y="111760"/>
                    <a:pt x="13081381" y="38100"/>
                    <a:pt x="12989052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611066" y="5174904"/>
            <a:ext cx="114300" cy="1596923"/>
            <a:chOff x="0" y="0"/>
            <a:chExt cx="152400" cy="21292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" cy="2129282"/>
            </a:xfrm>
            <a:custGeom>
              <a:avLst/>
              <a:gdLst/>
              <a:ahLst/>
              <a:cxnLst/>
              <a:rect r="r" b="b" t="t" l="l"/>
              <a:pathLst>
                <a:path h="212928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084578"/>
                  </a:lnTo>
                  <a:cubicBezTo>
                    <a:pt x="152400" y="2109216"/>
                    <a:pt x="132461" y="2129282"/>
                    <a:pt x="107696" y="2129282"/>
                  </a:cubicBezTo>
                  <a:lnTo>
                    <a:pt x="44704" y="2129282"/>
                  </a:lnTo>
                  <a:cubicBezTo>
                    <a:pt x="20066" y="2129282"/>
                    <a:pt x="0" y="2109343"/>
                    <a:pt x="0" y="2084578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977188" y="5417191"/>
            <a:ext cx="3156499" cy="35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High-Precision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77188" y="5843140"/>
            <a:ext cx="9277350" cy="67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Designed specifically for lung cancer detection using CT scan images, acting as a powerful assistive tool for clinicians with exceptional accuracy.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625353" y="6933457"/>
            <a:ext cx="9895284" cy="1625498"/>
            <a:chOff x="0" y="0"/>
            <a:chExt cx="13193712" cy="21673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3155676" cy="2129282"/>
            </a:xfrm>
            <a:custGeom>
              <a:avLst/>
              <a:gdLst/>
              <a:ahLst/>
              <a:cxnLst/>
              <a:rect r="r" b="b" t="t" l="l"/>
              <a:pathLst>
                <a:path h="2129282" w="13155676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970002" y="0"/>
                  </a:lnTo>
                  <a:cubicBezTo>
                    <a:pt x="13072490" y="0"/>
                    <a:pt x="13155676" y="81915"/>
                    <a:pt x="13155676" y="182880"/>
                  </a:cubicBezTo>
                  <a:lnTo>
                    <a:pt x="13155676" y="1946402"/>
                  </a:lnTo>
                  <a:cubicBezTo>
                    <a:pt x="13155676" y="2047367"/>
                    <a:pt x="13072618" y="2129282"/>
                    <a:pt x="12970002" y="2129282"/>
                  </a:cubicBezTo>
                  <a:lnTo>
                    <a:pt x="185674" y="2129282"/>
                  </a:lnTo>
                  <a:cubicBezTo>
                    <a:pt x="83185" y="2129282"/>
                    <a:pt x="0" y="2047367"/>
                    <a:pt x="0" y="1946402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93776" cy="2167382"/>
            </a:xfrm>
            <a:custGeom>
              <a:avLst/>
              <a:gdLst/>
              <a:ahLst/>
              <a:cxnLst/>
              <a:rect r="r" b="b" t="t" l="l"/>
              <a:pathLst>
                <a:path h="2167382" w="13193776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989052" y="0"/>
                  </a:lnTo>
                  <a:lnTo>
                    <a:pt x="12989052" y="19050"/>
                  </a:lnTo>
                  <a:lnTo>
                    <a:pt x="12989052" y="0"/>
                  </a:lnTo>
                  <a:cubicBezTo>
                    <a:pt x="13101828" y="0"/>
                    <a:pt x="13193776" y="90170"/>
                    <a:pt x="13193776" y="201930"/>
                  </a:cubicBezTo>
                  <a:lnTo>
                    <a:pt x="13174726" y="201930"/>
                  </a:lnTo>
                  <a:lnTo>
                    <a:pt x="13193776" y="201930"/>
                  </a:lnTo>
                  <a:lnTo>
                    <a:pt x="13193776" y="1965452"/>
                  </a:lnTo>
                  <a:lnTo>
                    <a:pt x="13174726" y="1965452"/>
                  </a:lnTo>
                  <a:lnTo>
                    <a:pt x="13193776" y="1965452"/>
                  </a:lnTo>
                  <a:cubicBezTo>
                    <a:pt x="13193776" y="2077212"/>
                    <a:pt x="13101828" y="2167382"/>
                    <a:pt x="12989052" y="2167382"/>
                  </a:cubicBezTo>
                  <a:lnTo>
                    <a:pt x="12989052" y="2148332"/>
                  </a:lnTo>
                  <a:lnTo>
                    <a:pt x="12989052" y="2167382"/>
                  </a:lnTo>
                  <a:lnTo>
                    <a:pt x="204724" y="2167382"/>
                  </a:lnTo>
                  <a:lnTo>
                    <a:pt x="204724" y="2148332"/>
                  </a:lnTo>
                  <a:lnTo>
                    <a:pt x="204724" y="2167382"/>
                  </a:lnTo>
                  <a:cubicBezTo>
                    <a:pt x="91948" y="2167382"/>
                    <a:pt x="0" y="2077212"/>
                    <a:pt x="0" y="19654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65452"/>
                  </a:lnTo>
                  <a:lnTo>
                    <a:pt x="19050" y="1965452"/>
                  </a:lnTo>
                  <a:lnTo>
                    <a:pt x="38100" y="1965452"/>
                  </a:lnTo>
                  <a:cubicBezTo>
                    <a:pt x="38100" y="2055622"/>
                    <a:pt x="112395" y="2129282"/>
                    <a:pt x="204724" y="2129282"/>
                  </a:cubicBezTo>
                  <a:lnTo>
                    <a:pt x="12989052" y="2129282"/>
                  </a:lnTo>
                  <a:cubicBezTo>
                    <a:pt x="13081254" y="2129282"/>
                    <a:pt x="13155676" y="2055622"/>
                    <a:pt x="13155676" y="1965452"/>
                  </a:cubicBezTo>
                  <a:lnTo>
                    <a:pt x="13155676" y="201930"/>
                  </a:lnTo>
                  <a:cubicBezTo>
                    <a:pt x="13155676" y="111760"/>
                    <a:pt x="13081381" y="38100"/>
                    <a:pt x="12989052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11066" y="6947745"/>
            <a:ext cx="114300" cy="1596923"/>
            <a:chOff x="0" y="0"/>
            <a:chExt cx="152400" cy="21292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2129282"/>
            </a:xfrm>
            <a:custGeom>
              <a:avLst/>
              <a:gdLst/>
              <a:ahLst/>
              <a:cxnLst/>
              <a:rect r="r" b="b" t="t" l="l"/>
              <a:pathLst>
                <a:path h="212928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084578"/>
                  </a:lnTo>
                  <a:cubicBezTo>
                    <a:pt x="152400" y="2109216"/>
                    <a:pt x="132461" y="2129282"/>
                    <a:pt x="107696" y="2129282"/>
                  </a:cubicBezTo>
                  <a:lnTo>
                    <a:pt x="44704" y="2129282"/>
                  </a:lnTo>
                  <a:cubicBezTo>
                    <a:pt x="20066" y="2129282"/>
                    <a:pt x="0" y="2109343"/>
                    <a:pt x="0" y="2084578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977188" y="7190032"/>
            <a:ext cx="2791863" cy="35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Enhanced Efficiency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77188" y="7615980"/>
            <a:ext cx="9277350" cy="67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Significantly improves diagnostic speed and accuracy, enabling faster screening and more reliable classification of lung abnormalities.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50271"/>
            <a:ext cx="1302840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Technology Stack &amp;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36597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875655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064964"/>
            <a:ext cx="524544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 Augmentation &amp;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63756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Enhancing dataset variability through resizing to 224x224 pixels, random rotation, flipping, and normalization techniques.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2336597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2875655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306496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Transfer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3620843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Fine-tuning pre-trained models (VGG16, VGG19, Xception, ResNet-50, MobileNetV2) on curated lung CT scan datasets.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2336597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2875655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3064964"/>
            <a:ext cx="404797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Hybrid Model Integration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3620843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Stacking and training combined models to create VER-Net's powerful ensemble architecture.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364786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903834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709315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Classification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649023"/>
            <a:ext cx="8009934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Mapping CT scan images to distinct lung cancer classes: Normal, Benign, and Malignant subtypes with high confidence.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364786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903834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709315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Interpretable Output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649023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Generating predictions with Grad-CAM visualizations for clinical interpretability and trust.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57997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38753" y="2407739"/>
            <a:ext cx="9867748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Expected Impact &amp; Use Cases: Transforming Patient 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8753" y="3176740"/>
            <a:ext cx="5124002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91%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8515" y="3738562"/>
            <a:ext cx="1924345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Precision &amp;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753" y="4048277"/>
            <a:ext cx="5124002" cy="3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VER-Net achieved 91% accuracy, precision, recall, and F1-score in multiclass classification, outperforming other models.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7235" y="3176740"/>
            <a:ext cx="5124002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6997" y="3738562"/>
            <a:ext cx="1924345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Faster Screening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67235" y="4048277"/>
            <a:ext cx="5124002" cy="3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Automates initial CT scan analysis, reducing clinician workload and enabling focus on complex cases.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52927" y="4738840"/>
            <a:ext cx="5124002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31248" y="5300662"/>
            <a:ext cx="1967208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Improved Accessibility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52927" y="5610377"/>
            <a:ext cx="5124002" cy="3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Democratizes advanced diagnostics for deployment in low-resource healthcare settings worldwide.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538753" y="6084094"/>
            <a:ext cx="384867" cy="384867"/>
          </a:xfrm>
          <a:custGeom>
            <a:avLst/>
            <a:gdLst/>
            <a:ahLst/>
            <a:cxnLst/>
            <a:rect r="r" b="b" t="t" l="l"/>
            <a:pathLst>
              <a:path h="384867" w="384867">
                <a:moveTo>
                  <a:pt x="0" y="0"/>
                </a:moveTo>
                <a:lnTo>
                  <a:pt x="384867" y="0"/>
                </a:lnTo>
                <a:lnTo>
                  <a:pt x="384867" y="384867"/>
                </a:lnTo>
                <a:lnTo>
                  <a:pt x="0" y="38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15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109" y="6065044"/>
            <a:ext cx="1924345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Screening Programs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109" y="6374759"/>
            <a:ext cx="9863138" cy="18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Rapidly analyze large volumes of CT scans for population-level lung cancer screening initiatives.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538753" y="6731794"/>
            <a:ext cx="384867" cy="384867"/>
          </a:xfrm>
          <a:custGeom>
            <a:avLst/>
            <a:gdLst/>
            <a:ahLst/>
            <a:cxnLst/>
            <a:rect r="r" b="b" t="t" l="l"/>
            <a:pathLst>
              <a:path h="384867" w="384867">
                <a:moveTo>
                  <a:pt x="0" y="0"/>
                </a:moveTo>
                <a:lnTo>
                  <a:pt x="384867" y="0"/>
                </a:lnTo>
                <a:lnTo>
                  <a:pt x="384867" y="384867"/>
                </a:lnTo>
                <a:lnTo>
                  <a:pt x="0" y="384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8291" r="0" b="-1829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109" y="6712744"/>
            <a:ext cx="1924345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Diagnostic Assistance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109" y="7022459"/>
            <a:ext cx="9863138" cy="18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Provide clinicians with a reliable second opinion, reducing diagnostic errors and improving patient outcomes.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538753" y="7379494"/>
            <a:ext cx="384867" cy="384867"/>
          </a:xfrm>
          <a:custGeom>
            <a:avLst/>
            <a:gdLst/>
            <a:ahLst/>
            <a:cxnLst/>
            <a:rect r="r" b="b" t="t" l="l"/>
            <a:pathLst>
              <a:path h="384867" w="384867">
                <a:moveTo>
                  <a:pt x="0" y="0"/>
                </a:moveTo>
                <a:lnTo>
                  <a:pt x="384867" y="0"/>
                </a:lnTo>
                <a:lnTo>
                  <a:pt x="384867" y="384867"/>
                </a:lnTo>
                <a:lnTo>
                  <a:pt x="0" y="3848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109" y="7360444"/>
            <a:ext cx="1924345" cy="2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Subtype Classification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109" y="7670159"/>
            <a:ext cx="9863138" cy="18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Differentiate between various lung cancer types for targeted, personalized treatment plans.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08364" y="2008584"/>
            <a:ext cx="10329272" cy="1011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The Future of Lung Cancer Detection: Scalability &amp; Innovation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08364" y="3150841"/>
            <a:ext cx="786260" cy="943566"/>
            <a:chOff x="0" y="0"/>
            <a:chExt cx="1048347" cy="125808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8385" cy="1258062"/>
            </a:xfrm>
            <a:custGeom>
              <a:avLst/>
              <a:gdLst/>
              <a:ahLst/>
              <a:cxnLst/>
              <a:rect r="r" b="b" t="t" l="l"/>
              <a:pathLst>
                <a:path h="1258062" w="1048385">
                  <a:moveTo>
                    <a:pt x="0" y="0"/>
                  </a:moveTo>
                  <a:lnTo>
                    <a:pt x="1048385" y="0"/>
                  </a:lnTo>
                  <a:lnTo>
                    <a:pt x="1048385" y="1258062"/>
                  </a:lnTo>
                  <a:lnTo>
                    <a:pt x="0" y="125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6" t="0" r="-301" b="-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81835" y="3288954"/>
            <a:ext cx="1965874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Innovation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81835" y="3596430"/>
            <a:ext cx="9455791" cy="2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VER-Net's hybrid architecture and robust preprocessing offer a novel, effective approach to lung cancer classification.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08364" y="4094407"/>
            <a:ext cx="786260" cy="943566"/>
            <a:chOff x="0" y="0"/>
            <a:chExt cx="1048347" cy="1258087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48385" cy="1258062"/>
            </a:xfrm>
            <a:custGeom>
              <a:avLst/>
              <a:gdLst/>
              <a:ahLst/>
              <a:cxnLst/>
              <a:rect r="r" b="b" t="t" l="l"/>
              <a:pathLst>
                <a:path h="1258062" w="1048385">
                  <a:moveTo>
                    <a:pt x="0" y="0"/>
                  </a:moveTo>
                  <a:lnTo>
                    <a:pt x="1048385" y="0"/>
                  </a:lnTo>
                  <a:lnTo>
                    <a:pt x="1048385" y="1258062"/>
                  </a:lnTo>
                  <a:lnTo>
                    <a:pt x="0" y="125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6" t="0" r="-301" b="-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281835" y="4232519"/>
            <a:ext cx="1965874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Feasibility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81835" y="4540006"/>
            <a:ext cx="9455791" cy="2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Demonstrated high performance metrics utilizing established deep learning techniques and accessible tools.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08364" y="5037982"/>
            <a:ext cx="786260" cy="943566"/>
            <a:chOff x="0" y="0"/>
            <a:chExt cx="1048347" cy="125808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48385" cy="1258062"/>
            </a:xfrm>
            <a:custGeom>
              <a:avLst/>
              <a:gdLst/>
              <a:ahLst/>
              <a:cxnLst/>
              <a:rect r="r" b="b" t="t" l="l"/>
              <a:pathLst>
                <a:path h="1258062" w="1048385">
                  <a:moveTo>
                    <a:pt x="0" y="0"/>
                  </a:moveTo>
                  <a:lnTo>
                    <a:pt x="1048385" y="0"/>
                  </a:lnTo>
                  <a:lnTo>
                    <a:pt x="1048385" y="1258062"/>
                  </a:lnTo>
                  <a:lnTo>
                    <a:pt x="0" y="1258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6" t="0" r="-301" b="-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81835" y="5176095"/>
            <a:ext cx="1965874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1835" y="5483571"/>
            <a:ext cx="9455791" cy="2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Framework adaptable to other medical imaging modalities and diseases, including various cancers and organ conditions.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98839" y="6070102"/>
            <a:ext cx="5140081" cy="1256109"/>
            <a:chOff x="0" y="0"/>
            <a:chExt cx="6853441" cy="16748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6828155" cy="1649476"/>
            </a:xfrm>
            <a:custGeom>
              <a:avLst/>
              <a:gdLst/>
              <a:ahLst/>
              <a:cxnLst/>
              <a:rect r="r" b="b" t="t" l="l"/>
              <a:pathLst>
                <a:path h="1649476" w="6828155">
                  <a:moveTo>
                    <a:pt x="0" y="31496"/>
                  </a:moveTo>
                  <a:cubicBezTo>
                    <a:pt x="0" y="14097"/>
                    <a:pt x="14224" y="0"/>
                    <a:pt x="31877" y="0"/>
                  </a:cubicBezTo>
                  <a:lnTo>
                    <a:pt x="6796278" y="0"/>
                  </a:lnTo>
                  <a:cubicBezTo>
                    <a:pt x="6813804" y="0"/>
                    <a:pt x="6828155" y="14097"/>
                    <a:pt x="6828155" y="31496"/>
                  </a:cubicBezTo>
                  <a:lnTo>
                    <a:pt x="6828155" y="1617980"/>
                  </a:lnTo>
                  <a:cubicBezTo>
                    <a:pt x="6828155" y="1635379"/>
                    <a:pt x="6813931" y="1649476"/>
                    <a:pt x="6796278" y="1649476"/>
                  </a:cubicBezTo>
                  <a:lnTo>
                    <a:pt x="31877" y="1649476"/>
                  </a:lnTo>
                  <a:cubicBezTo>
                    <a:pt x="14351" y="1649476"/>
                    <a:pt x="0" y="1635379"/>
                    <a:pt x="0" y="1617980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53555" cy="1674876"/>
            </a:xfrm>
            <a:custGeom>
              <a:avLst/>
              <a:gdLst/>
              <a:ahLst/>
              <a:cxnLst/>
              <a:rect r="r" b="b" t="t" l="l"/>
              <a:pathLst>
                <a:path h="1674876" w="6853555">
                  <a:moveTo>
                    <a:pt x="0" y="44196"/>
                  </a:moveTo>
                  <a:cubicBezTo>
                    <a:pt x="0" y="19685"/>
                    <a:pt x="20066" y="0"/>
                    <a:pt x="44577" y="0"/>
                  </a:cubicBezTo>
                  <a:lnTo>
                    <a:pt x="6808978" y="0"/>
                  </a:lnTo>
                  <a:lnTo>
                    <a:pt x="6808978" y="12700"/>
                  </a:lnTo>
                  <a:lnTo>
                    <a:pt x="6808978" y="0"/>
                  </a:lnTo>
                  <a:cubicBezTo>
                    <a:pt x="6833489" y="0"/>
                    <a:pt x="6853555" y="19685"/>
                    <a:pt x="6853555" y="44196"/>
                  </a:cubicBezTo>
                  <a:lnTo>
                    <a:pt x="6840855" y="44196"/>
                  </a:lnTo>
                  <a:lnTo>
                    <a:pt x="6853555" y="44196"/>
                  </a:lnTo>
                  <a:lnTo>
                    <a:pt x="6853555" y="1630680"/>
                  </a:lnTo>
                  <a:lnTo>
                    <a:pt x="6840855" y="1630680"/>
                  </a:lnTo>
                  <a:lnTo>
                    <a:pt x="6853555" y="1630680"/>
                  </a:lnTo>
                  <a:cubicBezTo>
                    <a:pt x="6853555" y="1655191"/>
                    <a:pt x="6833489" y="1674876"/>
                    <a:pt x="6808978" y="1674876"/>
                  </a:cubicBezTo>
                  <a:lnTo>
                    <a:pt x="6808978" y="1662176"/>
                  </a:lnTo>
                  <a:lnTo>
                    <a:pt x="6808978" y="1674876"/>
                  </a:lnTo>
                  <a:lnTo>
                    <a:pt x="44577" y="1674876"/>
                  </a:lnTo>
                  <a:lnTo>
                    <a:pt x="44577" y="1662176"/>
                  </a:lnTo>
                  <a:lnTo>
                    <a:pt x="44577" y="1674876"/>
                  </a:lnTo>
                  <a:cubicBezTo>
                    <a:pt x="20066" y="1674876"/>
                    <a:pt x="0" y="1655191"/>
                    <a:pt x="0" y="1630680"/>
                  </a:cubicBezTo>
                  <a:lnTo>
                    <a:pt x="0" y="44196"/>
                  </a:lnTo>
                  <a:lnTo>
                    <a:pt x="12700" y="44196"/>
                  </a:lnTo>
                  <a:lnTo>
                    <a:pt x="0" y="44196"/>
                  </a:lnTo>
                  <a:moveTo>
                    <a:pt x="25400" y="44196"/>
                  </a:moveTo>
                  <a:lnTo>
                    <a:pt x="25400" y="1630680"/>
                  </a:lnTo>
                  <a:lnTo>
                    <a:pt x="12700" y="1630680"/>
                  </a:lnTo>
                  <a:lnTo>
                    <a:pt x="25400" y="1630680"/>
                  </a:lnTo>
                  <a:cubicBezTo>
                    <a:pt x="25400" y="1640840"/>
                    <a:pt x="33782" y="1649476"/>
                    <a:pt x="44577" y="1649476"/>
                  </a:cubicBezTo>
                  <a:lnTo>
                    <a:pt x="6808978" y="1649476"/>
                  </a:lnTo>
                  <a:cubicBezTo>
                    <a:pt x="6819647" y="1649476"/>
                    <a:pt x="6828155" y="1640967"/>
                    <a:pt x="6828155" y="1630680"/>
                  </a:cubicBezTo>
                  <a:lnTo>
                    <a:pt x="6828155" y="44196"/>
                  </a:lnTo>
                  <a:cubicBezTo>
                    <a:pt x="6828155" y="34036"/>
                    <a:pt x="6819773" y="25400"/>
                    <a:pt x="6808978" y="25400"/>
                  </a:cubicBezTo>
                  <a:lnTo>
                    <a:pt x="44577" y="25400"/>
                  </a:lnTo>
                  <a:lnTo>
                    <a:pt x="44577" y="12700"/>
                  </a:lnTo>
                  <a:lnTo>
                    <a:pt x="44577" y="25400"/>
                  </a:lnTo>
                  <a:cubicBezTo>
                    <a:pt x="33782" y="25400"/>
                    <a:pt x="25400" y="33909"/>
                    <a:pt x="25400" y="44196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584577" y="6236789"/>
            <a:ext cx="3318119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Electronic Health Records Integration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84577" y="6544266"/>
            <a:ext cx="4768606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Seamless connection with patient records for comprehensive diagnostic workflows and longitudinal patient monitoring.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07080" y="6070102"/>
            <a:ext cx="5140081" cy="1256109"/>
            <a:chOff x="0" y="0"/>
            <a:chExt cx="6853441" cy="16748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6828155" cy="1649476"/>
            </a:xfrm>
            <a:custGeom>
              <a:avLst/>
              <a:gdLst/>
              <a:ahLst/>
              <a:cxnLst/>
              <a:rect r="r" b="b" t="t" l="l"/>
              <a:pathLst>
                <a:path h="1649476" w="6828155">
                  <a:moveTo>
                    <a:pt x="0" y="31496"/>
                  </a:moveTo>
                  <a:cubicBezTo>
                    <a:pt x="0" y="14097"/>
                    <a:pt x="14224" y="0"/>
                    <a:pt x="31877" y="0"/>
                  </a:cubicBezTo>
                  <a:lnTo>
                    <a:pt x="6796278" y="0"/>
                  </a:lnTo>
                  <a:cubicBezTo>
                    <a:pt x="6813804" y="0"/>
                    <a:pt x="6828155" y="14097"/>
                    <a:pt x="6828155" y="31496"/>
                  </a:cubicBezTo>
                  <a:lnTo>
                    <a:pt x="6828155" y="1617980"/>
                  </a:lnTo>
                  <a:cubicBezTo>
                    <a:pt x="6828155" y="1635379"/>
                    <a:pt x="6813931" y="1649476"/>
                    <a:pt x="6796278" y="1649476"/>
                  </a:cubicBezTo>
                  <a:lnTo>
                    <a:pt x="31877" y="1649476"/>
                  </a:lnTo>
                  <a:cubicBezTo>
                    <a:pt x="14351" y="1649476"/>
                    <a:pt x="0" y="1635379"/>
                    <a:pt x="0" y="1617980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53555" cy="1674876"/>
            </a:xfrm>
            <a:custGeom>
              <a:avLst/>
              <a:gdLst/>
              <a:ahLst/>
              <a:cxnLst/>
              <a:rect r="r" b="b" t="t" l="l"/>
              <a:pathLst>
                <a:path h="1674876" w="6853555">
                  <a:moveTo>
                    <a:pt x="0" y="44196"/>
                  </a:moveTo>
                  <a:cubicBezTo>
                    <a:pt x="0" y="19685"/>
                    <a:pt x="20066" y="0"/>
                    <a:pt x="44577" y="0"/>
                  </a:cubicBezTo>
                  <a:lnTo>
                    <a:pt x="6808978" y="0"/>
                  </a:lnTo>
                  <a:lnTo>
                    <a:pt x="6808978" y="12700"/>
                  </a:lnTo>
                  <a:lnTo>
                    <a:pt x="6808978" y="0"/>
                  </a:lnTo>
                  <a:cubicBezTo>
                    <a:pt x="6833489" y="0"/>
                    <a:pt x="6853555" y="19685"/>
                    <a:pt x="6853555" y="44196"/>
                  </a:cubicBezTo>
                  <a:lnTo>
                    <a:pt x="6840855" y="44196"/>
                  </a:lnTo>
                  <a:lnTo>
                    <a:pt x="6853555" y="44196"/>
                  </a:lnTo>
                  <a:lnTo>
                    <a:pt x="6853555" y="1630680"/>
                  </a:lnTo>
                  <a:lnTo>
                    <a:pt x="6840855" y="1630680"/>
                  </a:lnTo>
                  <a:lnTo>
                    <a:pt x="6853555" y="1630680"/>
                  </a:lnTo>
                  <a:cubicBezTo>
                    <a:pt x="6853555" y="1655191"/>
                    <a:pt x="6833489" y="1674876"/>
                    <a:pt x="6808978" y="1674876"/>
                  </a:cubicBezTo>
                  <a:lnTo>
                    <a:pt x="6808978" y="1662176"/>
                  </a:lnTo>
                  <a:lnTo>
                    <a:pt x="6808978" y="1674876"/>
                  </a:lnTo>
                  <a:lnTo>
                    <a:pt x="44577" y="1674876"/>
                  </a:lnTo>
                  <a:lnTo>
                    <a:pt x="44577" y="1662176"/>
                  </a:lnTo>
                  <a:lnTo>
                    <a:pt x="44577" y="1674876"/>
                  </a:lnTo>
                  <a:cubicBezTo>
                    <a:pt x="20066" y="1674876"/>
                    <a:pt x="0" y="1655191"/>
                    <a:pt x="0" y="1630680"/>
                  </a:cubicBezTo>
                  <a:lnTo>
                    <a:pt x="0" y="44196"/>
                  </a:lnTo>
                  <a:lnTo>
                    <a:pt x="12700" y="44196"/>
                  </a:lnTo>
                  <a:lnTo>
                    <a:pt x="0" y="44196"/>
                  </a:lnTo>
                  <a:moveTo>
                    <a:pt x="25400" y="44196"/>
                  </a:moveTo>
                  <a:lnTo>
                    <a:pt x="25400" y="1630680"/>
                  </a:lnTo>
                  <a:lnTo>
                    <a:pt x="12700" y="1630680"/>
                  </a:lnTo>
                  <a:lnTo>
                    <a:pt x="25400" y="1630680"/>
                  </a:lnTo>
                  <a:cubicBezTo>
                    <a:pt x="25400" y="1640840"/>
                    <a:pt x="33782" y="1649476"/>
                    <a:pt x="44577" y="1649476"/>
                  </a:cubicBezTo>
                  <a:lnTo>
                    <a:pt x="6808978" y="1649476"/>
                  </a:lnTo>
                  <a:cubicBezTo>
                    <a:pt x="6819647" y="1649476"/>
                    <a:pt x="6828155" y="1640967"/>
                    <a:pt x="6828155" y="1630680"/>
                  </a:cubicBezTo>
                  <a:lnTo>
                    <a:pt x="6828155" y="44196"/>
                  </a:lnTo>
                  <a:cubicBezTo>
                    <a:pt x="6828155" y="34036"/>
                    <a:pt x="6819773" y="25400"/>
                    <a:pt x="6808978" y="25400"/>
                  </a:cubicBezTo>
                  <a:lnTo>
                    <a:pt x="44577" y="25400"/>
                  </a:lnTo>
                  <a:lnTo>
                    <a:pt x="44577" y="12700"/>
                  </a:lnTo>
                  <a:lnTo>
                    <a:pt x="44577" y="25400"/>
                  </a:lnTo>
                  <a:cubicBezTo>
                    <a:pt x="33782" y="25400"/>
                    <a:pt x="25400" y="33909"/>
                    <a:pt x="25400" y="44196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792818" y="6236789"/>
            <a:ext cx="1965874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Real-Time 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92818" y="6544266"/>
            <a:ext cx="4768606" cy="59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Development of streaming analysis capabilities for immediate results during CT scan procedures, enabling faster clinical decisions.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398839" y="7394372"/>
            <a:ext cx="10348322" cy="864984"/>
            <a:chOff x="0" y="0"/>
            <a:chExt cx="13797763" cy="11533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13772389" cy="1128014"/>
            </a:xfrm>
            <a:custGeom>
              <a:avLst/>
              <a:gdLst/>
              <a:ahLst/>
              <a:cxnLst/>
              <a:rect r="r" b="b" t="t" l="l"/>
              <a:pathLst>
                <a:path h="1128014" w="13772389">
                  <a:moveTo>
                    <a:pt x="0" y="31496"/>
                  </a:moveTo>
                  <a:cubicBezTo>
                    <a:pt x="0" y="14097"/>
                    <a:pt x="14351" y="0"/>
                    <a:pt x="32131" y="0"/>
                  </a:cubicBezTo>
                  <a:lnTo>
                    <a:pt x="13740257" y="0"/>
                  </a:lnTo>
                  <a:cubicBezTo>
                    <a:pt x="13758038" y="0"/>
                    <a:pt x="13772389" y="14097"/>
                    <a:pt x="13772389" y="31496"/>
                  </a:cubicBezTo>
                  <a:lnTo>
                    <a:pt x="13772389" y="1096518"/>
                  </a:lnTo>
                  <a:cubicBezTo>
                    <a:pt x="13772389" y="1113917"/>
                    <a:pt x="13758038" y="1128014"/>
                    <a:pt x="13740257" y="1128014"/>
                  </a:cubicBezTo>
                  <a:lnTo>
                    <a:pt x="32131" y="1128014"/>
                  </a:lnTo>
                  <a:cubicBezTo>
                    <a:pt x="14351" y="1127887"/>
                    <a:pt x="0" y="1113790"/>
                    <a:pt x="0" y="1096518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97789" cy="1153414"/>
            </a:xfrm>
            <a:custGeom>
              <a:avLst/>
              <a:gdLst/>
              <a:ahLst/>
              <a:cxnLst/>
              <a:rect r="r" b="b" t="t" l="l"/>
              <a:pathLst>
                <a:path h="1153414" w="13797789">
                  <a:moveTo>
                    <a:pt x="0" y="44196"/>
                  </a:moveTo>
                  <a:cubicBezTo>
                    <a:pt x="0" y="19558"/>
                    <a:pt x="20320" y="0"/>
                    <a:pt x="44831" y="0"/>
                  </a:cubicBezTo>
                  <a:lnTo>
                    <a:pt x="13752957" y="0"/>
                  </a:lnTo>
                  <a:lnTo>
                    <a:pt x="13752957" y="12700"/>
                  </a:lnTo>
                  <a:lnTo>
                    <a:pt x="13752957" y="0"/>
                  </a:lnTo>
                  <a:cubicBezTo>
                    <a:pt x="13777469" y="0"/>
                    <a:pt x="13797789" y="19558"/>
                    <a:pt x="13797789" y="44196"/>
                  </a:cubicBezTo>
                  <a:lnTo>
                    <a:pt x="13785089" y="44196"/>
                  </a:lnTo>
                  <a:lnTo>
                    <a:pt x="13797789" y="44196"/>
                  </a:lnTo>
                  <a:lnTo>
                    <a:pt x="13797789" y="1109218"/>
                  </a:lnTo>
                  <a:lnTo>
                    <a:pt x="13785089" y="1109218"/>
                  </a:lnTo>
                  <a:lnTo>
                    <a:pt x="13797789" y="1109218"/>
                  </a:lnTo>
                  <a:cubicBezTo>
                    <a:pt x="13797789" y="1133856"/>
                    <a:pt x="13777469" y="1153414"/>
                    <a:pt x="13752957" y="1153414"/>
                  </a:cubicBezTo>
                  <a:lnTo>
                    <a:pt x="13752957" y="1140714"/>
                  </a:lnTo>
                  <a:lnTo>
                    <a:pt x="13752957" y="1153414"/>
                  </a:lnTo>
                  <a:lnTo>
                    <a:pt x="44831" y="1153414"/>
                  </a:lnTo>
                  <a:lnTo>
                    <a:pt x="44831" y="1140714"/>
                  </a:lnTo>
                  <a:lnTo>
                    <a:pt x="44831" y="1153414"/>
                  </a:lnTo>
                  <a:cubicBezTo>
                    <a:pt x="20320" y="1153287"/>
                    <a:pt x="0" y="1133729"/>
                    <a:pt x="0" y="1109218"/>
                  </a:cubicBezTo>
                  <a:lnTo>
                    <a:pt x="0" y="44196"/>
                  </a:lnTo>
                  <a:lnTo>
                    <a:pt x="12700" y="44196"/>
                  </a:lnTo>
                  <a:lnTo>
                    <a:pt x="0" y="44196"/>
                  </a:lnTo>
                  <a:moveTo>
                    <a:pt x="25400" y="44196"/>
                  </a:moveTo>
                  <a:lnTo>
                    <a:pt x="25400" y="1109218"/>
                  </a:lnTo>
                  <a:lnTo>
                    <a:pt x="12700" y="1109218"/>
                  </a:lnTo>
                  <a:lnTo>
                    <a:pt x="25400" y="1109218"/>
                  </a:lnTo>
                  <a:cubicBezTo>
                    <a:pt x="25400" y="1119378"/>
                    <a:pt x="33782" y="1128014"/>
                    <a:pt x="44831" y="1128014"/>
                  </a:cubicBezTo>
                  <a:lnTo>
                    <a:pt x="13752957" y="1128014"/>
                  </a:lnTo>
                  <a:cubicBezTo>
                    <a:pt x="13763879" y="1128014"/>
                    <a:pt x="13772389" y="1119378"/>
                    <a:pt x="13772389" y="1109218"/>
                  </a:cubicBezTo>
                  <a:lnTo>
                    <a:pt x="13772389" y="44196"/>
                  </a:lnTo>
                  <a:cubicBezTo>
                    <a:pt x="13772389" y="34036"/>
                    <a:pt x="13764006" y="25400"/>
                    <a:pt x="13752957" y="25400"/>
                  </a:cubicBezTo>
                  <a:lnTo>
                    <a:pt x="44831" y="25400"/>
                  </a:lnTo>
                  <a:lnTo>
                    <a:pt x="44831" y="12700"/>
                  </a:lnTo>
                  <a:lnTo>
                    <a:pt x="44831" y="25400"/>
                  </a:lnTo>
                  <a:cubicBezTo>
                    <a:pt x="33782" y="25400"/>
                    <a:pt x="25400" y="34036"/>
                    <a:pt x="25400" y="44196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584577" y="7561059"/>
            <a:ext cx="2056505" cy="26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Explainable AI Features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84577" y="7868545"/>
            <a:ext cx="9976847" cy="20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Enhanced interpretability tools providing clinicians with clear reasoning behind classifications, building trust and transparency.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DAHF6nNu1g8</dc:identifier>
  <dcterms:modified xsi:type="dcterms:W3CDTF">2011-08-01T06:04:30Z</dcterms:modified>
  <cp:revision>1</cp:revision>
  <dc:title>AI-Powered-Lung-Cancer-Detection-A-Leap-Forward-in-Early-Diagnosis.pptx</dc:title>
</cp:coreProperties>
</file>